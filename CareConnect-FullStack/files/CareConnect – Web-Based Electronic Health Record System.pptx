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2375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team. CareConnect is a web-based EHR system with portals for patients, doctors and admins.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Traditional record keeping is manual and fragmented. Information about the patient, doctor, records, appointments, prescriptions and test reports is not connected in one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CareConnect is needed to centralize healthcare information and make access easier for both patients and doctors.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centralized web-based EHR with separate portals for patients, doctors and administrators.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role-based portals, each with its own set of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the numbered steps. Row two reads right to left, as shown by the arrows.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frontend-only academic implementation. A backend and database are future scope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Spring Boot and PostgreSQL are planned future work, not part of the current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98500"/>
            <a:ext cx="3798292" cy="447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0B3A6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1066800" y="1450314"/>
            <a:ext cx="10312400" cy="4594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4A6178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A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70750" y="885825"/>
            <a:ext cx="4826000" cy="4826000"/>
          </a:xfrm>
          <a:prstGeom prst="roundRect">
            <a:avLst>
              <a:gd name="adj" fmla="val 33684"/>
            </a:avLst>
          </a:prstGeom>
          <a:solidFill>
            <a:srgbClr val="124F94"/>
          </a:solidFill>
          <a:ln/>
        </p:spPr>
      </p:sp>
      <p:sp>
        <p:nvSpPr>
          <p:cNvPr id="3" name="Shape 1"/>
          <p:cNvSpPr/>
          <p:nvPr/>
        </p:nvSpPr>
        <p:spPr>
          <a:xfrm>
            <a:off x="504825" y="3092450"/>
            <a:ext cx="3302000" cy="3302000"/>
          </a:xfrm>
          <a:prstGeom prst="roundRect">
            <a:avLst>
              <a:gd name="adj" fmla="val 49231"/>
            </a:avLst>
          </a:prstGeom>
          <a:solidFill>
            <a:srgbClr val="0F4A86"/>
          </a:solidFill>
          <a:ln/>
        </p:spPr>
      </p:sp>
      <p:sp>
        <p:nvSpPr>
          <p:cNvPr id="4" name="Text 2"/>
          <p:cNvSpPr/>
          <p:nvPr/>
        </p:nvSpPr>
        <p:spPr>
          <a:xfrm>
            <a:off x="812800" y="1796455"/>
            <a:ext cx="686752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EE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COLLEGE PROJECT • SOFTWARE / WEB APPLICATION</a:t>
            </a:r>
            <a:endParaRPr lang="en-US" sz="1500" dirty="0"/>
          </a:p>
        </p:txBody>
      </p:sp>
      <p:sp>
        <p:nvSpPr>
          <p:cNvPr id="5" name="Text 3"/>
          <p:cNvSpPr>
            <a:spLocks noGrp="1"/>
          </p:cNvSpPr>
          <p:nvPr>
            <p:ph type="title"/>
          </p:nvPr>
        </p:nvSpPr>
        <p:spPr>
          <a:xfrm>
            <a:off x="812800" y="2240955"/>
            <a:ext cx="6867525" cy="905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930"/>
              </a:lnSpc>
              <a:buNone/>
            </a:pPr>
            <a:r>
              <a:rPr lang="en-US" sz="6600" b="1" i="0" dirty="0">
                <a:solidFill>
                  <a:srgbClr val="F2F8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CareConnect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812800" y="3298825"/>
            <a:ext cx="6867525" cy="84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700" dirty="0">
                <a:solidFill>
                  <a:srgbClr val="BFE0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Web-Based Electronic Health Record System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12800" y="445187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arcTo wR="304800" hR="304800" stAng="16200000" swAng="5400000"/>
                <a:lnTo>
                  <a:pt x="609600" y="304800"/>
                </a:lnTo>
                <a:arcTo wR="304800" hR="304800" stAng="0" swAng="5400000"/>
                <a:lnTo>
                  <a:pt x="304800" y="609600"/>
                </a:lnTo>
                <a:arcTo wR="304800" hR="304800" stAng="5400000" swAng="5400000"/>
                <a:lnTo>
                  <a:pt x="0" y="304800"/>
                </a:lnTo>
                <a:arcTo wR="304800" hR="304800" stAng="10800000" swAng="5400000"/>
                <a:close/>
              </a:path>
            </a:pathLst>
          </a:custGeom>
          <a:solidFill>
            <a:srgbClr val="E8F3F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dirty="0">
                <a:solidFill>
                  <a:srgbClr val="F2F8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🩺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74800" y="445187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arcTo wR="304800" hR="304800" stAng="16200000" swAng="5400000"/>
                <a:lnTo>
                  <a:pt x="609600" y="304800"/>
                </a:lnTo>
                <a:arcTo wR="304800" hR="304800" stAng="0" swAng="5400000"/>
                <a:lnTo>
                  <a:pt x="304800" y="609600"/>
                </a:lnTo>
                <a:arcTo wR="304800" hR="304800" stAng="5400000" swAng="5400000"/>
                <a:lnTo>
                  <a:pt x="0" y="304800"/>
                </a:lnTo>
                <a:arcTo wR="304800" hR="304800" stAng="10800000" swAng="5400000"/>
                <a:close/>
              </a:path>
            </a:pathLst>
          </a:custGeom>
          <a:solidFill>
            <a:srgbClr val="E8F3F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dirty="0">
                <a:solidFill>
                  <a:srgbClr val="F2F8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336800" y="445187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arcTo wR="304800" hR="304800" stAng="16200000" swAng="5400000"/>
                <a:lnTo>
                  <a:pt x="609600" y="304800"/>
                </a:lnTo>
                <a:arcTo wR="304800" hR="304800" stAng="0" swAng="5400000"/>
                <a:lnTo>
                  <a:pt x="304800" y="609600"/>
                </a:lnTo>
                <a:arcTo wR="304800" hR="304800" stAng="5400000" swAng="5400000"/>
                <a:lnTo>
                  <a:pt x="0" y="304800"/>
                </a:lnTo>
                <a:arcTo wR="304800" hR="304800" stAng="10800000" swAng="5400000"/>
                <a:close/>
              </a:path>
            </a:pathLst>
          </a:custGeom>
          <a:solidFill>
            <a:srgbClr val="E8F3F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dirty="0">
                <a:solidFill>
                  <a:srgbClr val="F2F8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💊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098800" y="445187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arcTo wR="304800" hR="304800" stAng="16200000" swAng="5400000"/>
                <a:lnTo>
                  <a:pt x="609600" y="304800"/>
                </a:lnTo>
                <a:arcTo wR="304800" hR="304800" stAng="0" swAng="5400000"/>
                <a:lnTo>
                  <a:pt x="304800" y="609600"/>
                </a:lnTo>
                <a:arcTo wR="304800" hR="304800" stAng="5400000" swAng="5400000"/>
                <a:lnTo>
                  <a:pt x="0" y="304800"/>
                </a:lnTo>
                <a:arcTo wR="304800" hR="304800" stAng="10800000" swAng="5400000"/>
                <a:close/>
              </a:path>
            </a:pathLst>
          </a:custGeom>
          <a:solidFill>
            <a:srgbClr val="E8F3F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dirty="0">
                <a:solidFill>
                  <a:srgbClr val="F2F8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🧪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988300" y="2114550"/>
            <a:ext cx="3390900" cy="2628900"/>
          </a:xfrm>
          <a:prstGeom prst="roundRect">
            <a:avLst>
              <a:gd name="adj" fmla="val 5797"/>
            </a:avLst>
          </a:prstGeom>
          <a:solidFill>
            <a:srgbClr val="F2F8FD"/>
          </a:solidFill>
          <a:ln/>
        </p:spPr>
      </p:sp>
      <p:sp>
        <p:nvSpPr>
          <p:cNvPr id="12" name="Shape 10"/>
          <p:cNvSpPr/>
          <p:nvPr/>
        </p:nvSpPr>
        <p:spPr>
          <a:xfrm>
            <a:off x="7988300" y="2114550"/>
            <a:ext cx="3390900" cy="2628900"/>
          </a:xfrm>
          <a:custGeom>
            <a:avLst/>
            <a:gdLst/>
            <a:ahLst/>
            <a:cxnLst/>
            <a:rect l="l" t="t" r="r" b="b"/>
            <a:pathLst>
              <a:path w="3390900" h="2628900">
                <a:moveTo>
                  <a:pt x="152400" y="2628900"/>
                </a:moveTo>
                <a:lnTo>
                  <a:pt x="152400" y="262890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76200" hR="152400" stAng="16200000" swAng="-5400000"/>
                <a:lnTo>
                  <a:pt x="76200" y="2476500"/>
                </a:lnTo>
                <a:arcTo wR="76200" hR="152400" stAng="10800000" swAng="-5400000"/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8369300" y="2419350"/>
            <a:ext cx="278625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Aditya Choudhary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69300" y="2825750"/>
            <a:ext cx="278625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College:</a:t>
            </a:r>
            <a:r>
              <a:rPr lang="en-US" sz="1500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ABES Engineering </a:t>
            </a:r>
            <a:r>
              <a:rPr lang="en-US" sz="1500" dirty="0" err="1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College,Ghaziabad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69300" y="3498850"/>
            <a:ext cx="278625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Department:</a:t>
            </a:r>
            <a:r>
              <a:rPr lang="en-US" sz="1500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69300" y="4171950"/>
            <a:ext cx="278625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Academic Year:</a:t>
            </a:r>
            <a:r>
              <a:rPr lang="en-US" sz="1500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2026–27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718807"/>
            <a:ext cx="101600" cy="4064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066800" y="698500"/>
            <a:ext cx="4557951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B3A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9150" y="1380464"/>
            <a:ext cx="5219700" cy="635000"/>
          </a:xfrm>
          <a:prstGeom prst="roundRect">
            <a:avLst>
              <a:gd name="adj" fmla="val 19000"/>
            </a:avLst>
          </a:prstGeom>
          <a:solidFill>
            <a:srgbClr val="FFFFFF"/>
          </a:solidFill>
          <a:ln w="12700">
            <a:solidFill>
              <a:srgbClr val="CFE3F5"/>
            </a:solidFill>
            <a:prstDash val="solid"/>
          </a:ln>
        </p:spPr>
        <p:txBody>
          <a:bodyPr wrap="square" lIns="174213" tIns="148813" rIns="30195" bIns="123413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or scattered records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153150" y="1380464"/>
            <a:ext cx="5219700" cy="635000"/>
          </a:xfrm>
          <a:prstGeom prst="roundRect">
            <a:avLst>
              <a:gd name="adj" fmla="val 19000"/>
            </a:avLst>
          </a:prstGeom>
          <a:solidFill>
            <a:srgbClr val="FFFFFF"/>
          </a:solidFill>
          <a:ln w="12700">
            <a:solidFill>
              <a:srgbClr val="CFE3F5"/>
            </a:solidFill>
            <a:prstDash val="solid"/>
          </a:ln>
        </p:spPr>
        <p:txBody>
          <a:bodyPr wrap="square" lIns="174213" tIns="148813" rIns="30195" bIns="123413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 to retrieve when needed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9150" y="2129764"/>
            <a:ext cx="5219700" cy="635000"/>
          </a:xfrm>
          <a:prstGeom prst="roundRect">
            <a:avLst>
              <a:gd name="adj" fmla="val 19000"/>
            </a:avLst>
          </a:prstGeom>
          <a:solidFill>
            <a:srgbClr val="FFFFFF"/>
          </a:solidFill>
          <a:ln w="12700">
            <a:solidFill>
              <a:srgbClr val="CFE3F5"/>
            </a:solidFill>
            <a:prstDash val="solid"/>
          </a:ln>
        </p:spPr>
        <p:txBody>
          <a:bodyPr wrap="square" lIns="174213" tIns="148813" rIns="30195" bIns="123413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Fragmented patient information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153150" y="2129764"/>
            <a:ext cx="5219700" cy="635000"/>
          </a:xfrm>
          <a:prstGeom prst="roundRect">
            <a:avLst>
              <a:gd name="adj" fmla="val 19000"/>
            </a:avLst>
          </a:prstGeom>
          <a:solidFill>
            <a:srgbClr val="FFFFFF"/>
          </a:solidFill>
          <a:ln w="12700">
            <a:solidFill>
              <a:srgbClr val="CFE3F5"/>
            </a:solidFill>
            <a:prstDash val="solid"/>
          </a:ln>
        </p:spPr>
        <p:txBody>
          <a:bodyPr wrap="square" lIns="174213" tIns="148813" rIns="30195" bIns="123413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quick access to full history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9150" y="2879064"/>
            <a:ext cx="5219700" cy="635000"/>
          </a:xfrm>
          <a:prstGeom prst="roundRect">
            <a:avLst>
              <a:gd name="adj" fmla="val 19000"/>
            </a:avLst>
          </a:prstGeom>
          <a:solidFill>
            <a:srgbClr val="FFFFFF"/>
          </a:solidFill>
          <a:ln w="12700">
            <a:solidFill>
              <a:srgbClr val="CFE3F5"/>
            </a:solidFill>
            <a:prstDash val="solid"/>
          </a:ln>
        </p:spPr>
        <p:txBody>
          <a:bodyPr wrap="square" lIns="174213" tIns="148813" rIns="30195" bIns="123413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Medication details forgotten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153150" y="2879064"/>
            <a:ext cx="5219700" cy="635000"/>
          </a:xfrm>
          <a:prstGeom prst="roundRect">
            <a:avLst>
              <a:gd name="adj" fmla="val 19000"/>
            </a:avLst>
          </a:prstGeom>
          <a:solidFill>
            <a:srgbClr val="FFFFFF"/>
          </a:solidFill>
          <a:ln w="12700">
            <a:solidFill>
              <a:srgbClr val="CFE3F5"/>
            </a:solidFill>
            <a:prstDash val="solid"/>
          </a:ln>
        </p:spPr>
        <p:txBody>
          <a:bodyPr wrap="square" lIns="174213" tIns="148813" rIns="30195" bIns="123413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Inefficient appointment handling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9150" y="3628364"/>
            <a:ext cx="5219700" cy="635000"/>
          </a:xfrm>
          <a:prstGeom prst="roundRect">
            <a:avLst>
              <a:gd name="adj" fmla="val 19000"/>
            </a:avLst>
          </a:prstGeom>
          <a:solidFill>
            <a:srgbClr val="FFFFFF"/>
          </a:solidFill>
          <a:ln w="12700">
            <a:solidFill>
              <a:srgbClr val="CFE3F5"/>
            </a:solidFill>
            <a:prstDash val="solid"/>
          </a:ln>
        </p:spPr>
        <p:txBody>
          <a:bodyPr wrap="square" lIns="174213" tIns="148813" rIns="30195" bIns="123413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reports hard to access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153150" y="3628364"/>
            <a:ext cx="5219700" cy="635000"/>
          </a:xfrm>
          <a:prstGeom prst="roundRect">
            <a:avLst>
              <a:gd name="adj" fmla="val 19000"/>
            </a:avLst>
          </a:prstGeom>
          <a:solidFill>
            <a:srgbClr val="FFFFFF"/>
          </a:solidFill>
          <a:ln w="12700">
            <a:solidFill>
              <a:srgbClr val="CFE3F5"/>
            </a:solidFill>
            <a:prstDash val="solid"/>
          </a:ln>
        </p:spPr>
        <p:txBody>
          <a:bodyPr wrap="square" lIns="174213" tIns="148813" rIns="30195" bIns="123413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centralized platform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2800" y="4498314"/>
            <a:ext cx="1460500" cy="988020"/>
          </a:xfrm>
          <a:prstGeom prst="roundRect">
            <a:avLst>
              <a:gd name="adj" fmla="val 12854"/>
            </a:avLst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1291914" y="4638014"/>
            <a:ext cx="502206" cy="452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🧑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02531" y="5115520"/>
            <a:ext cx="68103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69464" y="4778970"/>
            <a:ext cx="368300" cy="452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2633993" y="4498314"/>
            <a:ext cx="1460500" cy="988020"/>
          </a:xfrm>
          <a:prstGeom prst="roundRect">
            <a:avLst>
              <a:gd name="adj" fmla="val 12854"/>
            </a:avLst>
          </a:prstGeom>
          <a:solidFill>
            <a:srgbClr val="1565C0"/>
          </a:solidFill>
          <a:ln/>
        </p:spPr>
      </p:sp>
      <p:sp>
        <p:nvSpPr>
          <p:cNvPr id="17" name="Text 15"/>
          <p:cNvSpPr/>
          <p:nvPr/>
        </p:nvSpPr>
        <p:spPr>
          <a:xfrm>
            <a:off x="3113107" y="4638014"/>
            <a:ext cx="502206" cy="452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🩺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037225" y="5115520"/>
            <a:ext cx="653971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Doctor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090657" y="4778970"/>
            <a:ext cx="368300" cy="452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4455187" y="4498314"/>
            <a:ext cx="1460500" cy="988020"/>
          </a:xfrm>
          <a:prstGeom prst="roundRect">
            <a:avLst>
              <a:gd name="adj" fmla="val 12854"/>
            </a:avLst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4934301" y="4638014"/>
            <a:ext cx="502206" cy="452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📋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787616" y="5115520"/>
            <a:ext cx="795576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11850" y="4778970"/>
            <a:ext cx="368300" cy="452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6276314" y="4498314"/>
            <a:ext cx="1460500" cy="988020"/>
          </a:xfrm>
          <a:prstGeom prst="roundRect">
            <a:avLst>
              <a:gd name="adj" fmla="val 12854"/>
            </a:avLst>
          </a:prstGeom>
          <a:solidFill>
            <a:srgbClr val="1565C0"/>
          </a:solidFill>
          <a:ln/>
        </p:spPr>
      </p:sp>
      <p:sp>
        <p:nvSpPr>
          <p:cNvPr id="25" name="Text 23"/>
          <p:cNvSpPr/>
          <p:nvPr/>
        </p:nvSpPr>
        <p:spPr>
          <a:xfrm>
            <a:off x="6755428" y="4638014"/>
            <a:ext cx="502206" cy="452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📅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320049" y="5115520"/>
            <a:ext cx="137302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Appointments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33043" y="4778970"/>
            <a:ext cx="368300" cy="452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8097507" y="4498314"/>
            <a:ext cx="1460500" cy="988020"/>
          </a:xfrm>
          <a:prstGeom prst="roundRect">
            <a:avLst>
              <a:gd name="adj" fmla="val 12854"/>
            </a:avLst>
          </a:prstGeom>
          <a:solidFill>
            <a:srgbClr val="1565C0"/>
          </a:solidFill>
          <a:ln/>
        </p:spPr>
      </p:sp>
      <p:sp>
        <p:nvSpPr>
          <p:cNvPr id="29" name="Text 27"/>
          <p:cNvSpPr/>
          <p:nvPr/>
        </p:nvSpPr>
        <p:spPr>
          <a:xfrm>
            <a:off x="8576621" y="4638014"/>
            <a:ext cx="502206" cy="452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💊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8181731" y="5115520"/>
            <a:ext cx="1291987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554237" y="4778970"/>
            <a:ext cx="368300" cy="452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9918700" y="4498314"/>
            <a:ext cx="1460500" cy="988020"/>
          </a:xfrm>
          <a:prstGeom prst="roundRect">
            <a:avLst>
              <a:gd name="adj" fmla="val 12854"/>
            </a:avLst>
          </a:prstGeom>
          <a:solidFill>
            <a:srgbClr val="1565C0"/>
          </a:solidFill>
          <a:ln/>
        </p:spPr>
      </p:sp>
      <p:sp>
        <p:nvSpPr>
          <p:cNvPr id="33" name="Text 31"/>
          <p:cNvSpPr/>
          <p:nvPr/>
        </p:nvSpPr>
        <p:spPr>
          <a:xfrm>
            <a:off x="10397815" y="4638014"/>
            <a:ext cx="502206" cy="452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🧪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10036969" y="5115520"/>
            <a:ext cx="1223963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Reports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CareConnect |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718807"/>
            <a:ext cx="101600" cy="4064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066800" y="698500"/>
            <a:ext cx="4857433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B3A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 for the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374115"/>
            <a:ext cx="10566400" cy="3812117"/>
          </a:xfrm>
          <a:prstGeom prst="rect">
            <a:avLst/>
          </a:prstGeom>
          <a:solidFill>
            <a:srgbClr val="FFFFF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596655"/>
              </p:ext>
            </p:extLst>
          </p:nvPr>
        </p:nvGraphicFramePr>
        <p:xfrm>
          <a:off x="825500" y="1386815"/>
          <a:ext cx="10553700" cy="3799416"/>
        </p:xfrm>
        <a:graphic>
          <a:graphicData uri="http://schemas.openxmlformats.org/drawingml/2006/table">
            <a:tbl>
              <a:tblPr/>
              <a:tblGrid>
                <a:gridCol w="35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4927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Aspect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Traditional System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CareConnect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27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B3A6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Records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4A617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✗ Manual / scattered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8F8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 Centralized digital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27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B3A6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Patient history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4A617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✗ Slow, incomplete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8F8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 Quick, complete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27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B3A6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Appointments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4A617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✗ Manual scheduling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8F8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 Online booking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27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B3A6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Prescriptions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4A617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✗ Paper, easy to forget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8F8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 Digital, always viewable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27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B3A6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Test results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4A617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✗ Collected in person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8F8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 Viewable online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27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B3A6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Communication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4A617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✗ Limited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8F8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 Better patient–doctor link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27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B3A6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Organization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4A617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✗ Fragmented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8F8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 Well organized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CareConnect |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718807"/>
            <a:ext cx="101600" cy="4064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066800" y="698500"/>
            <a:ext cx="778494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B3A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 Solution: CareConnect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380465"/>
            <a:ext cx="1892300" cy="546100"/>
          </a:xfrm>
          <a:prstGeom prst="roundRect">
            <a:avLst>
              <a:gd name="adj" fmla="val 17442"/>
            </a:avLst>
          </a:prstGeom>
          <a:solidFill>
            <a:srgbClr val="E8F3FC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75715"/>
            <a:ext cx="4185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🧑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64787" y="1520165"/>
            <a:ext cx="78581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3A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9150" y="2015465"/>
            <a:ext cx="1892300" cy="546100"/>
          </a:xfrm>
          <a:prstGeom prst="roundRect">
            <a:avLst>
              <a:gd name="adj" fmla="val 17442"/>
            </a:avLst>
          </a:prstGeom>
          <a:solidFill>
            <a:srgbClr val="E8F3FC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10715"/>
            <a:ext cx="4185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🩺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64787" y="2155165"/>
            <a:ext cx="75461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3A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Doctor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9150" y="2650465"/>
            <a:ext cx="1892300" cy="546100"/>
          </a:xfrm>
          <a:prstGeom prst="roundRect">
            <a:avLst>
              <a:gd name="adj" fmla="val 17442"/>
            </a:avLst>
          </a:prstGeom>
          <a:solidFill>
            <a:srgbClr val="E8F3FC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45715"/>
            <a:ext cx="4185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🛡️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64787" y="2790165"/>
            <a:ext cx="72247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3A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65500" y="2075128"/>
            <a:ext cx="368300" cy="452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381500" y="1515070"/>
            <a:ext cx="2667000" cy="1546820"/>
          </a:xfrm>
          <a:prstGeom prst="roundRect">
            <a:avLst>
              <a:gd name="adj" fmla="val 9852"/>
            </a:avLst>
          </a:prstGeom>
          <a:solidFill>
            <a:srgbClr val="0B3A6F"/>
          </a:solidFill>
          <a:ln/>
        </p:spPr>
      </p:sp>
      <p:sp>
        <p:nvSpPr>
          <p:cNvPr id="15" name="Shape 13"/>
          <p:cNvSpPr/>
          <p:nvPr/>
        </p:nvSpPr>
        <p:spPr>
          <a:xfrm>
            <a:off x="4381500" y="1515070"/>
            <a:ext cx="2667000" cy="1546820"/>
          </a:xfrm>
          <a:custGeom>
            <a:avLst/>
            <a:gdLst/>
            <a:ahLst/>
            <a:cxnLst/>
            <a:rect l="l" t="t" r="r" b="b"/>
            <a:pathLst>
              <a:path w="2667000" h="1546820">
                <a:moveTo>
                  <a:pt x="2667000" y="1394420"/>
                </a:moveTo>
                <a:lnTo>
                  <a:pt x="2667000" y="1394420"/>
                </a:lnTo>
                <a:arcTo wR="152400" hR="152400" stAng="0" swAng="5400000"/>
                <a:lnTo>
                  <a:pt x="152400" y="1546820"/>
                </a:lnTo>
                <a:arcTo wR="152400" hR="152400" stAng="5400000" swAng="5400000"/>
                <a:lnTo>
                  <a:pt x="0" y="1394420"/>
                </a:lnTo>
                <a:arcTo wR="152400" hR="88900" stAng="10800000" swAng="-5400000"/>
                <a:lnTo>
                  <a:pt x="2514600" y="1483320"/>
                </a:lnTo>
                <a:arcTo wR="152400" hR="88900" stAng="5400000" swAng="-5400000"/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5401079" y="1769070"/>
            <a:ext cx="62777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🏥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634157" y="2353270"/>
            <a:ext cx="2161619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CareConnect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696200" y="2075128"/>
            <a:ext cx="368300" cy="452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718550" y="1567128"/>
            <a:ext cx="2654300" cy="1442707"/>
          </a:xfrm>
          <a:prstGeom prst="roundRect">
            <a:avLst>
              <a:gd name="adj" fmla="val 10123"/>
            </a:avLst>
          </a:prstGeom>
          <a:solidFill>
            <a:srgbClr val="E8F3FC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31779" y="1827478"/>
            <a:ext cx="62777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3000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🗂️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885106" y="2411678"/>
            <a:ext cx="2481394" cy="363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0B3A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Healthcare Records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819150" y="3437865"/>
            <a:ext cx="5181600" cy="1628048"/>
          </a:xfrm>
          <a:prstGeom prst="roundRect">
            <a:avLst>
              <a:gd name="adj" fmla="val 7411"/>
            </a:avLst>
          </a:prstGeom>
          <a:solidFill>
            <a:srgbClr val="FFFFFF"/>
          </a:solidFill>
          <a:ln w="12700">
            <a:solidFill>
              <a:srgbClr val="CFE3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8700" y="3622015"/>
            <a:ext cx="4905375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8F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Patients can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028700" y="3976291"/>
            <a:ext cx="4905375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Register and manage profile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28700" y="4288698"/>
            <a:ext cx="4905375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Book appointments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28700" y="4601105"/>
            <a:ext cx="4905375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View prescriptions and test results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91250" y="3437865"/>
            <a:ext cx="5181600" cy="1628048"/>
          </a:xfrm>
          <a:prstGeom prst="roundRect">
            <a:avLst>
              <a:gd name="adj" fmla="val 7411"/>
            </a:avLst>
          </a:prstGeom>
          <a:solidFill>
            <a:srgbClr val="FFFFFF"/>
          </a:solidFill>
          <a:ln w="12700">
            <a:solidFill>
              <a:srgbClr val="CFE3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3622015"/>
            <a:ext cx="4905375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8F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Doctors can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400800" y="3976291"/>
            <a:ext cx="4905375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View patient history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0" y="4288698"/>
            <a:ext cx="4905375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Record diagnosis, notes, treatment plans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0" y="4601105"/>
            <a:ext cx="4905375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Create prescriptions, order tests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CareConnect |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718809"/>
            <a:ext cx="101600" cy="4064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066800" y="698500"/>
            <a:ext cx="4541441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B3A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Important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380465"/>
            <a:ext cx="3390900" cy="3050448"/>
          </a:xfrm>
          <a:prstGeom prst="roundRect">
            <a:avLst>
              <a:gd name="adj" fmla="val 3955"/>
            </a:avLst>
          </a:prstGeom>
          <a:solidFill>
            <a:srgbClr val="FFFFFF"/>
          </a:solidFill>
          <a:ln w="12700">
            <a:solidFill>
              <a:srgbClr val="CFE3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5500" y="1386815"/>
            <a:ext cx="3378200" cy="731507"/>
          </a:xfrm>
          <a:custGeom>
            <a:avLst/>
            <a:gdLst/>
            <a:ahLst/>
            <a:cxnLst/>
            <a:rect l="l" t="t" r="r" b="b"/>
            <a:pathLst>
              <a:path w="3378200" h="731507">
                <a:moveTo>
                  <a:pt x="0" y="114300"/>
                </a:moveTo>
                <a:arcTo wR="114300" hR="114300" stAng="10800000" swAng="5400000"/>
                <a:lnTo>
                  <a:pt x="3263900" y="0"/>
                </a:lnTo>
                <a:arcTo wR="114300" hR="114300" stAng="16200000" swAng="5400000"/>
                <a:lnTo>
                  <a:pt x="3378200" y="731507"/>
                </a:lnTo>
                <a:lnTo>
                  <a:pt x="0" y="731507"/>
                </a:lnTo>
                <a:close/>
              </a:path>
            </a:pathLst>
          </a:cu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1003300" y="1539215"/>
            <a:ext cx="502206" cy="452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🧑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23405" y="1600135"/>
            <a:ext cx="104775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3300" y="2270720"/>
            <a:ext cx="311327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Registration &amp; Login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3300" y="2621229"/>
            <a:ext cx="311327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Patient Profile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3300" y="2971735"/>
            <a:ext cx="311327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Medical History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3300" y="3322241"/>
            <a:ext cx="311327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Appointment Booking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3300" y="3672749"/>
            <a:ext cx="311327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Prescription Viewing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3300" y="4023255"/>
            <a:ext cx="311327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Test Result Viewing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400550" y="1380465"/>
            <a:ext cx="3390900" cy="3050448"/>
          </a:xfrm>
          <a:prstGeom prst="roundRect">
            <a:avLst>
              <a:gd name="adj" fmla="val 3955"/>
            </a:avLst>
          </a:prstGeom>
          <a:solidFill>
            <a:srgbClr val="FFFFFF"/>
          </a:solidFill>
          <a:ln w="12700">
            <a:solidFill>
              <a:srgbClr val="CFE3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06900" y="1386815"/>
            <a:ext cx="3378200" cy="731507"/>
          </a:xfrm>
          <a:custGeom>
            <a:avLst/>
            <a:gdLst/>
            <a:ahLst/>
            <a:cxnLst/>
            <a:rect l="l" t="t" r="r" b="b"/>
            <a:pathLst>
              <a:path w="3378200" h="731507">
                <a:moveTo>
                  <a:pt x="0" y="114300"/>
                </a:moveTo>
                <a:arcTo wR="114300" hR="114300" stAng="10800000" swAng="5400000"/>
                <a:lnTo>
                  <a:pt x="3263900" y="0"/>
                </a:lnTo>
                <a:arcTo wR="114300" hR="114300" stAng="16200000" swAng="5400000"/>
                <a:lnTo>
                  <a:pt x="3378200" y="731507"/>
                </a:lnTo>
                <a:lnTo>
                  <a:pt x="0" y="731507"/>
                </a:lnTo>
                <a:close/>
              </a:path>
            </a:pathLst>
          </a:custGeom>
          <a:solidFill>
            <a:srgbClr val="0B3A6F"/>
          </a:solidFill>
          <a:ln/>
        </p:spPr>
      </p:sp>
      <p:sp>
        <p:nvSpPr>
          <p:cNvPr id="16" name="Text 14"/>
          <p:cNvSpPr/>
          <p:nvPr/>
        </p:nvSpPr>
        <p:spPr>
          <a:xfrm>
            <a:off x="4584700" y="1539215"/>
            <a:ext cx="502206" cy="452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🩺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104805" y="1600135"/>
            <a:ext cx="100607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Doctor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84700" y="2270720"/>
            <a:ext cx="311327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Patient Management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84700" y="2621229"/>
            <a:ext cx="311327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Appointment Management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84700" y="2971735"/>
            <a:ext cx="311327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Patient History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84700" y="3322241"/>
            <a:ext cx="311327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Consultation / Clinical Notes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84700" y="3672749"/>
            <a:ext cx="311327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Prescription Management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84700" y="4023255"/>
            <a:ext cx="311327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Test Order / CPOE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981950" y="1380465"/>
            <a:ext cx="3390900" cy="3050448"/>
          </a:xfrm>
          <a:prstGeom prst="roundRect">
            <a:avLst>
              <a:gd name="adj" fmla="val 3955"/>
            </a:avLst>
          </a:prstGeom>
          <a:solidFill>
            <a:srgbClr val="FFFFFF"/>
          </a:solidFill>
          <a:ln w="12700">
            <a:solidFill>
              <a:srgbClr val="CFE3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88300" y="1386815"/>
            <a:ext cx="3378200" cy="731507"/>
          </a:xfrm>
          <a:custGeom>
            <a:avLst/>
            <a:gdLst/>
            <a:ahLst/>
            <a:cxnLst/>
            <a:rect l="l" t="t" r="r" b="b"/>
            <a:pathLst>
              <a:path w="3378200" h="731507">
                <a:moveTo>
                  <a:pt x="0" y="114300"/>
                </a:moveTo>
                <a:arcTo wR="114300" hR="114300" stAng="10800000" swAng="5400000"/>
                <a:lnTo>
                  <a:pt x="3263900" y="0"/>
                </a:lnTo>
                <a:arcTo wR="114300" hR="114300" stAng="16200000" swAng="5400000"/>
                <a:lnTo>
                  <a:pt x="3378200" y="731507"/>
                </a:lnTo>
                <a:lnTo>
                  <a:pt x="0" y="731507"/>
                </a:lnTo>
                <a:close/>
              </a:path>
            </a:pathLst>
          </a:custGeom>
          <a:solidFill>
            <a:srgbClr val="0F8F84"/>
          </a:solidFill>
          <a:ln/>
        </p:spPr>
      </p:sp>
      <p:sp>
        <p:nvSpPr>
          <p:cNvPr id="26" name="Text 24"/>
          <p:cNvSpPr/>
          <p:nvPr/>
        </p:nvSpPr>
        <p:spPr>
          <a:xfrm>
            <a:off x="8166100" y="1539215"/>
            <a:ext cx="502206" cy="452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🛡️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8686205" y="1600135"/>
            <a:ext cx="96329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166100" y="2270720"/>
            <a:ext cx="311327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User Management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166100" y="2621229"/>
            <a:ext cx="311327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Patient Management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166100" y="2971735"/>
            <a:ext cx="311327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Doctor Management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166100" y="3322241"/>
            <a:ext cx="311327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System Information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CareConnect |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718809"/>
            <a:ext cx="101600" cy="4064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066800" y="698500"/>
            <a:ext cx="4214257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B3A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380465"/>
            <a:ext cx="3035300" cy="647700"/>
          </a:xfrm>
          <a:prstGeom prst="roundRect">
            <a:avLst>
              <a:gd name="adj" fmla="val 18627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7900" y="1501115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511300" y="1526515"/>
            <a:ext cx="4185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📝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987087" y="1588759"/>
            <a:ext cx="1861013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3A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Registration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32250" y="1490929"/>
            <a:ext cx="368300" cy="452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8350" y="1380465"/>
            <a:ext cx="3035300" cy="647700"/>
          </a:xfrm>
          <a:prstGeom prst="roundRect">
            <a:avLst>
              <a:gd name="adj" fmla="val 18627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7100" y="1501115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270500" y="1526515"/>
            <a:ext cx="4185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🔐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746287" y="1588759"/>
            <a:ext cx="535781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3A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91450" y="1490929"/>
            <a:ext cx="368300" cy="452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337550" y="1380465"/>
            <a:ext cx="3035300" cy="647700"/>
          </a:xfrm>
          <a:prstGeom prst="roundRect">
            <a:avLst>
              <a:gd name="adj" fmla="val 18627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96300" y="1501115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029700" y="1526515"/>
            <a:ext cx="4185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📅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505487" y="1588759"/>
            <a:ext cx="1799431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3A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 Appointment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710209" y="2123415"/>
            <a:ext cx="30374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19150" y="2498065"/>
            <a:ext cx="3035300" cy="703527"/>
          </a:xfrm>
          <a:prstGeom prst="roundRect">
            <a:avLst>
              <a:gd name="adj" fmla="val 17149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7900" y="2646629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11300" y="2672029"/>
            <a:ext cx="3667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🧠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943960" y="2618715"/>
            <a:ext cx="1804292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3A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Diagnosis &amp; Suggestions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032250" y="2636441"/>
            <a:ext cx="368300" cy="452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←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4578350" y="2525979"/>
            <a:ext cx="3035300" cy="647700"/>
          </a:xfrm>
          <a:prstGeom prst="roundRect">
            <a:avLst>
              <a:gd name="adj" fmla="val 18627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7100" y="2646629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270500" y="2672029"/>
            <a:ext cx="4185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🩺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746287" y="2734270"/>
            <a:ext cx="1241981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3A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91450" y="2636441"/>
            <a:ext cx="368300" cy="452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←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8337550" y="2498065"/>
            <a:ext cx="3035300" cy="703527"/>
          </a:xfrm>
          <a:prstGeom prst="roundRect">
            <a:avLst>
              <a:gd name="adj" fmla="val 17149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96300" y="2646629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029700" y="2672029"/>
            <a:ext cx="30321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📂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409113" y="2618715"/>
            <a:ext cx="1859137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3A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Doctor Reviews Patient History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178050" y="3296841"/>
            <a:ext cx="30374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819150" y="3671491"/>
            <a:ext cx="3035300" cy="703527"/>
          </a:xfrm>
          <a:prstGeom prst="roundRect">
            <a:avLst>
              <a:gd name="adj" fmla="val 17149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7900" y="3820055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511300" y="3845455"/>
            <a:ext cx="37068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💊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947201" y="3792141"/>
            <a:ext cx="1800954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3A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 / Test Order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032250" y="3809870"/>
            <a:ext cx="368300" cy="452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4578350" y="3699405"/>
            <a:ext cx="3035300" cy="647700"/>
          </a:xfrm>
          <a:prstGeom prst="roundRect">
            <a:avLst>
              <a:gd name="adj" fmla="val 18627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37100" y="3820055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5270500" y="3845455"/>
            <a:ext cx="4185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🧪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5746287" y="3907699"/>
            <a:ext cx="175744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3A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Result Added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791450" y="3809870"/>
            <a:ext cx="368300" cy="452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44" name="Shape 42"/>
          <p:cNvSpPr/>
          <p:nvPr/>
        </p:nvSpPr>
        <p:spPr>
          <a:xfrm>
            <a:off x="8337550" y="3671491"/>
            <a:ext cx="3035300" cy="703527"/>
          </a:xfrm>
          <a:prstGeom prst="roundRect">
            <a:avLst>
              <a:gd name="adj" fmla="val 17149"/>
            </a:avLst>
          </a:prstGeom>
          <a:solidFill>
            <a:srgbClr val="FFFFFF"/>
          </a:solidFill>
          <a:ln w="12700">
            <a:solidFill>
              <a:srgbClr val="0F8F8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96300" y="3820055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F8F8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9029700" y="3845455"/>
            <a:ext cx="2295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📋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9335426" y="3792141"/>
            <a:ext cx="1935034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3A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Views Records, Prescription &amp; Results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CareConnect |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718809"/>
            <a:ext cx="101600" cy="4064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066800" y="698500"/>
            <a:ext cx="4147661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B3A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380465"/>
            <a:ext cx="3416300" cy="828014"/>
          </a:xfrm>
          <a:prstGeom prst="roundRect">
            <a:avLst>
              <a:gd name="adj" fmla="val 11503"/>
            </a:avLst>
          </a:prstGeom>
          <a:solidFill>
            <a:srgbClr val="FFFFFF"/>
          </a:solidFill>
          <a:ln w="12700">
            <a:solidFill>
              <a:srgbClr val="CFE3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1526515"/>
            <a:ext cx="316560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3A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Angular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90600" y="1831315"/>
            <a:ext cx="316560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framework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7850" y="1380465"/>
            <a:ext cx="3416300" cy="828014"/>
          </a:xfrm>
          <a:prstGeom prst="roundRect">
            <a:avLst>
              <a:gd name="adj" fmla="val 11503"/>
            </a:avLst>
          </a:prstGeom>
          <a:solidFill>
            <a:srgbClr val="FFFFFF"/>
          </a:solidFill>
          <a:ln w="12700">
            <a:solidFill>
              <a:srgbClr val="CFE3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9300" y="1526515"/>
            <a:ext cx="316560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3A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TypeScript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59300" y="1831315"/>
            <a:ext cx="316560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Programming language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56550" y="1380465"/>
            <a:ext cx="3416300" cy="828014"/>
          </a:xfrm>
          <a:prstGeom prst="roundRect">
            <a:avLst>
              <a:gd name="adj" fmla="val 11503"/>
            </a:avLst>
          </a:prstGeom>
          <a:solidFill>
            <a:srgbClr val="FFFFFF"/>
          </a:solidFill>
          <a:ln w="12700">
            <a:solidFill>
              <a:srgbClr val="CFE3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8000" y="1526515"/>
            <a:ext cx="316560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3A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Angular Router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0" y="1831315"/>
            <a:ext cx="316560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9150" y="2360879"/>
            <a:ext cx="3416300" cy="828014"/>
          </a:xfrm>
          <a:prstGeom prst="roundRect">
            <a:avLst>
              <a:gd name="adj" fmla="val 11503"/>
            </a:avLst>
          </a:prstGeom>
          <a:solidFill>
            <a:srgbClr val="FFFFFF"/>
          </a:solidFill>
          <a:ln w="12700">
            <a:solidFill>
              <a:srgbClr val="CFE3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0600" y="2506929"/>
            <a:ext cx="316560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3A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Reactive Forms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90600" y="2811729"/>
            <a:ext cx="316560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 handling &amp; validation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7850" y="2360879"/>
            <a:ext cx="3416300" cy="828014"/>
          </a:xfrm>
          <a:prstGeom prst="roundRect">
            <a:avLst>
              <a:gd name="adj" fmla="val 11503"/>
            </a:avLst>
          </a:prstGeom>
          <a:solidFill>
            <a:srgbClr val="FFFFFF"/>
          </a:solidFill>
          <a:ln w="12700">
            <a:solidFill>
              <a:srgbClr val="CFE3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9300" y="2506929"/>
            <a:ext cx="316560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3A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RxJS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59300" y="2811729"/>
            <a:ext cx="316560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Reactive programming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56550" y="2360879"/>
            <a:ext cx="3416300" cy="828014"/>
          </a:xfrm>
          <a:prstGeom prst="roundRect">
            <a:avLst>
              <a:gd name="adj" fmla="val 11503"/>
            </a:avLst>
          </a:prstGeom>
          <a:solidFill>
            <a:srgbClr val="FFFFFF"/>
          </a:solidFill>
          <a:ln w="12700">
            <a:solidFill>
              <a:srgbClr val="CFE3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28000" y="2506929"/>
            <a:ext cx="316560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3A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&amp; CSS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28000" y="2811729"/>
            <a:ext cx="316560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 and styling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9150" y="3341291"/>
            <a:ext cx="3416300" cy="828014"/>
          </a:xfrm>
          <a:prstGeom prst="roundRect">
            <a:avLst>
              <a:gd name="adj" fmla="val 11503"/>
            </a:avLst>
          </a:prstGeom>
          <a:solidFill>
            <a:srgbClr val="FFFFFF"/>
          </a:solidFill>
          <a:ln w="12700">
            <a:solidFill>
              <a:srgbClr val="CFE3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0600" y="3487341"/>
            <a:ext cx="316560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3A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Tailwind CSS / Responsive CSS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90600" y="3792141"/>
            <a:ext cx="316560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design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87850" y="3341291"/>
            <a:ext cx="3416300" cy="828014"/>
          </a:xfrm>
          <a:prstGeom prst="roundRect">
            <a:avLst>
              <a:gd name="adj" fmla="val 11503"/>
            </a:avLst>
          </a:prstGeom>
          <a:solidFill>
            <a:srgbClr val="FFFFFF"/>
          </a:solidFill>
          <a:ln w="12700">
            <a:solidFill>
              <a:srgbClr val="CFE3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59300" y="3487341"/>
            <a:ext cx="316560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3A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Browser LocalStorage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59300" y="3792141"/>
            <a:ext cx="316560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 data persistence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956550" y="3341291"/>
            <a:ext cx="3416300" cy="828014"/>
          </a:xfrm>
          <a:prstGeom prst="roundRect">
            <a:avLst>
              <a:gd name="adj" fmla="val 11503"/>
            </a:avLst>
          </a:prstGeom>
          <a:solidFill>
            <a:srgbClr val="FFFFFF"/>
          </a:solidFill>
          <a:ln w="12700">
            <a:solidFill>
              <a:srgbClr val="CFE3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28000" y="3487341"/>
            <a:ext cx="316560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3A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&amp; Angular CLI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128000" y="3792141"/>
            <a:ext cx="316560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Development environment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12800" y="4404255"/>
            <a:ext cx="10566400" cy="604507"/>
          </a:xfrm>
          <a:prstGeom prst="roundRect">
            <a:avLst>
              <a:gd name="adj" fmla="val 16807"/>
            </a:avLst>
          </a:prstGeom>
          <a:solidFill>
            <a:srgbClr val="0B3A6F"/>
          </a:solidFill>
          <a:ln/>
        </p:spPr>
        <p:txBody>
          <a:bodyPr wrap="square" lIns="173442" tIns="122642" rIns="0" bIns="148042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scope: frontend-only academic implementation. Demo data is kept in the browser.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12800" y="4404255"/>
            <a:ext cx="10566400" cy="604507"/>
          </a:xfrm>
          <a:custGeom>
            <a:avLst/>
            <a:gdLst/>
            <a:ahLst/>
            <a:cxnLst/>
            <a:rect l="l" t="t" r="r" b="b"/>
            <a:pathLst>
              <a:path w="10566400" h="604507">
                <a:moveTo>
                  <a:pt x="10566400" y="502907"/>
                </a:moveTo>
                <a:lnTo>
                  <a:pt x="10566400" y="502907"/>
                </a:lnTo>
                <a:arcTo wR="101600" hR="101600" stAng="0" swAng="5400000"/>
                <a:lnTo>
                  <a:pt x="101600" y="604507"/>
                </a:lnTo>
                <a:arcTo wR="101600" hR="101600" stAng="5400000" swAng="5400000"/>
                <a:lnTo>
                  <a:pt x="0" y="502907"/>
                </a:lnTo>
                <a:arcTo wR="101600" hR="50800" stAng="10800000" swAng="-5400000"/>
                <a:lnTo>
                  <a:pt x="10464800" y="553707"/>
                </a:lnTo>
                <a:arcTo wR="101600" hR="50800" stAng="5400000" swAng="-5400000"/>
                <a:close/>
              </a:path>
            </a:pathLst>
          </a:custGeom>
          <a:solidFill>
            <a:srgbClr val="14B8A6"/>
          </a:solidFill>
          <a:ln/>
        </p:spPr>
      </p:sp>
      <p:sp>
        <p:nvSpPr>
          <p:cNvPr id="33" name="Text 31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CareConnect |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718809"/>
            <a:ext cx="101600" cy="4064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1066800" y="698500"/>
            <a:ext cx="6262449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B3A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Benefits and 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380465"/>
            <a:ext cx="5181600" cy="3736181"/>
          </a:xfrm>
          <a:prstGeom prst="roundRect">
            <a:avLst>
              <a:gd name="adj" fmla="val 3229"/>
            </a:avLst>
          </a:prstGeom>
          <a:solidFill>
            <a:srgbClr val="FFFFFF"/>
          </a:solidFill>
          <a:ln w="12700">
            <a:solidFill>
              <a:srgbClr val="CFE3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5500" y="1386815"/>
            <a:ext cx="5168900" cy="645120"/>
          </a:xfrm>
          <a:custGeom>
            <a:avLst/>
            <a:gdLst/>
            <a:ahLst/>
            <a:cxnLst/>
            <a:rect l="l" t="t" r="r" b="b"/>
            <a:pathLst>
              <a:path w="5168900" h="645120">
                <a:moveTo>
                  <a:pt x="0" y="114300"/>
                </a:moveTo>
                <a:arcTo wR="114300" hR="114300" stAng="10800000" swAng="5400000"/>
                <a:lnTo>
                  <a:pt x="5054600" y="0"/>
                </a:lnTo>
                <a:arcTo wR="114300" hR="114300" stAng="16200000" swAng="5400000"/>
                <a:lnTo>
                  <a:pt x="5168900" y="645120"/>
                </a:lnTo>
                <a:lnTo>
                  <a:pt x="0" y="645120"/>
                </a:lnTo>
                <a:close/>
              </a:path>
            </a:pathLst>
          </a:cu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1003300" y="1513815"/>
            <a:ext cx="46037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88546" y="1564615"/>
            <a:ext cx="1179116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Benefits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3300" y="2171635"/>
            <a:ext cx="4957699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Centralized healthcare information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3300" y="2490391"/>
            <a:ext cx="4957699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Faster access to records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3300" y="2809149"/>
            <a:ext cx="4957699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Better appointment management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3300" y="3127905"/>
            <a:ext cx="4957699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Easy prescription tracking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3300" y="3446661"/>
            <a:ext cx="4957699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Easy access to test results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3300" y="3765420"/>
            <a:ext cx="4957699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Improved patient convenience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3300" y="4084179"/>
            <a:ext cx="4957699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Organized doctor workflow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3300" y="4402931"/>
            <a:ext cx="4957699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Role-based access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91250" y="1380465"/>
            <a:ext cx="5181600" cy="3736181"/>
          </a:xfrm>
          <a:prstGeom prst="roundRect">
            <a:avLst>
              <a:gd name="adj" fmla="val 3229"/>
            </a:avLst>
          </a:prstGeom>
          <a:solidFill>
            <a:srgbClr val="FFFFFF"/>
          </a:solidFill>
          <a:ln w="12700">
            <a:solidFill>
              <a:srgbClr val="CFE3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7600" y="1386815"/>
            <a:ext cx="5168900" cy="645120"/>
          </a:xfrm>
          <a:custGeom>
            <a:avLst/>
            <a:gdLst/>
            <a:ahLst/>
            <a:cxnLst/>
            <a:rect l="l" t="t" r="r" b="b"/>
            <a:pathLst>
              <a:path w="5168900" h="645120">
                <a:moveTo>
                  <a:pt x="0" y="114300"/>
                </a:moveTo>
                <a:arcTo wR="114300" hR="114300" stAng="10800000" swAng="5400000"/>
                <a:lnTo>
                  <a:pt x="5054600" y="0"/>
                </a:lnTo>
                <a:arcTo wR="114300" hR="114300" stAng="16200000" swAng="5400000"/>
                <a:lnTo>
                  <a:pt x="5168900" y="645120"/>
                </a:lnTo>
                <a:lnTo>
                  <a:pt x="0" y="645120"/>
                </a:lnTo>
                <a:close/>
              </a:path>
            </a:pathLst>
          </a:custGeom>
          <a:solidFill>
            <a:srgbClr val="0F8F84"/>
          </a:solidFill>
          <a:ln/>
        </p:spPr>
      </p:sp>
      <p:sp>
        <p:nvSpPr>
          <p:cNvPr id="18" name="Text 16"/>
          <p:cNvSpPr/>
          <p:nvPr/>
        </p:nvSpPr>
        <p:spPr>
          <a:xfrm>
            <a:off x="6375400" y="1513815"/>
            <a:ext cx="46037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🚀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60646" y="1564615"/>
            <a:ext cx="1871266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Scope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375400" y="2171635"/>
            <a:ext cx="4957699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 Spring Boot backend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75400" y="2490391"/>
            <a:ext cx="4957699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 PostgreSQL database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5400" y="2809149"/>
            <a:ext cx="4957699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 Spring Security / JWT authentication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75400" y="3127905"/>
            <a:ext cx="4957699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 Email / SMS notifications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75400" y="3446661"/>
            <a:ext cx="4957699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 Laboratory and pharmacy integration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75400" y="3765420"/>
            <a:ext cx="4957699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 Telemedicine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75400" y="4084179"/>
            <a:ext cx="4957699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 Mobile application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75400" y="4402931"/>
            <a:ext cx="4957699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 Cloud-based deployment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75400" y="4721690"/>
            <a:ext cx="4957699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30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 AI-assisted healthcare analytics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CareConnect |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A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36000" y="0"/>
            <a:ext cx="4826000" cy="4826000"/>
          </a:xfrm>
          <a:prstGeom prst="roundRect">
            <a:avLst>
              <a:gd name="adj" fmla="val 33684"/>
            </a:avLst>
          </a:prstGeom>
          <a:solidFill>
            <a:srgbClr val="124F94"/>
          </a:solidFill>
          <a:ln/>
        </p:spPr>
      </p:sp>
      <p:sp>
        <p:nvSpPr>
          <p:cNvPr id="3" name="Text 1"/>
          <p:cNvSpPr/>
          <p:nvPr/>
        </p:nvSpPr>
        <p:spPr>
          <a:xfrm>
            <a:off x="4164806" y="1725017"/>
            <a:ext cx="3862387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4000" dirty="0">
                <a:solidFill>
                  <a:srgbClr val="F2F8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🩺 📋 💊 🧪</a:t>
            </a:r>
            <a:endParaRPr lang="en-US" sz="40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3555934" y="2664817"/>
            <a:ext cx="5080066" cy="1025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7875"/>
              </a:lnSpc>
              <a:buNone/>
            </a:pPr>
            <a:r>
              <a:rPr lang="en-US" sz="7500" b="1" i="0" dirty="0">
                <a:solidFill>
                  <a:srgbClr val="F2F8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1517650" y="3893542"/>
            <a:ext cx="9156700" cy="751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60"/>
              </a:lnSpc>
              <a:buNone/>
            </a:pPr>
            <a:r>
              <a:rPr lang="en-US" sz="2200" dirty="0">
                <a:solidFill>
                  <a:srgbClr val="BFE0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CareConnect – Making Healthcare Records Simple, Centralized and Accessible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86474" y="4848560"/>
            <a:ext cx="521898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5EE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Questions? | [Team names] | [College name]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reConnect – Web-Based Electronic Health Record System">
  <a:themeElements>
    <a:clrScheme name="CareConnect – Web-Based Electronic Health Record System">
      <a:dk1>
        <a:srgbClr val="4A6178"/>
      </a:dk1>
      <a:lt1>
        <a:srgbClr val="F4F9FD"/>
      </a:lt1>
      <a:dk2>
        <a:srgbClr val="758799"/>
      </a:dk2>
      <a:lt2>
        <a:srgbClr val="E3EAF0"/>
      </a:lt2>
      <a:accent1>
        <a:srgbClr val="12304F"/>
      </a:accent1>
      <a:accent2>
        <a:srgbClr val="0B3A6F"/>
      </a:accent2>
      <a:accent3>
        <a:srgbClr val="14B8A6"/>
      </a:accent3>
      <a:accent4>
        <a:srgbClr val="1565C0"/>
      </a:accent4>
      <a:accent5>
        <a:srgbClr val="0F8F84"/>
      </a:accent5>
      <a:accent6>
        <a:srgbClr val="124F94"/>
      </a:accent6>
      <a:hlink>
        <a:srgbClr val="0563C1"/>
      </a:hlink>
      <a:folHlink>
        <a:srgbClr val="954F72"/>
      </a:folHlink>
    </a:clrScheme>
    <a:fontScheme name="CareConnect – Web-Based Electronic Health Record System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668</Words>
  <Application>Microsoft Office PowerPoint</Application>
  <PresentationFormat>Widescreen</PresentationFormat>
  <Paragraphs>213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Inter</vt:lpstr>
      <vt:lpstr>CareConnect – Web-Based Electronic Health Record System</vt:lpstr>
      <vt:lpstr>CareConnect</vt:lpstr>
      <vt:lpstr>Problem Statement</vt:lpstr>
      <vt:lpstr>Need for the System</vt:lpstr>
      <vt:lpstr>Proposed Solution: CareConnect</vt:lpstr>
      <vt:lpstr>Important Features</vt:lpstr>
      <vt:lpstr>System Workflow</vt:lpstr>
      <vt:lpstr>Technology Used</vt:lpstr>
      <vt:lpstr>Benefits and Future Scope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CareConnect – Web-Based Electronic Health Record System</dc:title>
  <dc:subject/>
  <dc:creator/>
  <cp:lastModifiedBy>Aditya Choudhary</cp:lastModifiedBy>
  <cp:revision>2</cp:revision>
  <dcterms:created xsi:type="dcterms:W3CDTF">2026-10-01T04:54:09Z</dcterms:created>
  <dcterms:modified xsi:type="dcterms:W3CDTF">2026-10-01T04:56:24Z</dcterms:modified>
</cp:coreProperties>
</file>